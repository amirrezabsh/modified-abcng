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81" r:id="rId5"/>
    <p:sldId id="284" r:id="rId6"/>
    <p:sldId id="315" r:id="rId7"/>
    <p:sldId id="325" r:id="rId8"/>
    <p:sldId id="301" r:id="rId9"/>
    <p:sldId id="265" r:id="rId10"/>
    <p:sldId id="316" r:id="rId11"/>
    <p:sldId id="326" r:id="rId12"/>
    <p:sldId id="327" r:id="rId13"/>
    <p:sldId id="328" r:id="rId14"/>
    <p:sldId id="329" r:id="rId15"/>
    <p:sldId id="330" r:id="rId16"/>
    <p:sldId id="302" r:id="rId17"/>
    <p:sldId id="304" r:id="rId18"/>
    <p:sldId id="277" r:id="rId19"/>
    <p:sldId id="292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6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767" autoAdjust="0"/>
  </p:normalViewPr>
  <p:slideViewPr>
    <p:cSldViewPr snapToGrid="0">
      <p:cViewPr varScale="1">
        <p:scale>
          <a:sx n="113" d="100"/>
          <a:sy n="113" d="100"/>
        </p:scale>
        <p:origin x="584" y="176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2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1647-6E64-5DF0-53A7-973195E6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9D3F0-3724-EBDA-0E2B-D5F3507B6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C7AEC-6DD3-BF96-00DB-5498D790F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AE47-C2F8-CC1C-7511-8BEC755E4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5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12484-0AAD-5AE3-ED1C-F257C1D4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0CB42-A560-1314-2386-347874D71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3EADB-2F08-625C-CEE0-2991BB5BD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CACA8-2380-65F3-3F12-3E90D5B1E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92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61561-B01D-4B2A-03DF-6559FACE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38DDF-41E2-19E1-14AA-FFA1A71E6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005EA-21C1-90A9-9765-0D518FE9F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328F2-46B7-4855-517B-44A51C2A1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65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3763-6A18-C241-99F1-B4C908FF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0E78E-9A77-2C34-A632-884BD7A04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0C29B-A1B3-2C0F-9D24-28DB42496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C1A94-C0EF-AF69-FEA1-F84FA8381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39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22755-5758-C201-2C6D-F98CB34A7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B9131C-EFFD-A707-79CE-10CAD3974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26BEB-68A5-424E-9B93-8B9AA9A1F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1E9CD-AFC5-F839-B1E0-B8F23DB10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291C-8FBC-A913-ABA0-CB4B37DA0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F664D-F70B-DB07-5D57-6012A8825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912B9-18D7-CC99-A85E-FC8EA96B8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B4E07-4EB4-EA74-27C5-7745B082B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98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39F17-6731-45A9-410D-FA5A2B9D3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63BF4-1A5E-EB92-B018-203790560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C0175-3315-4821-34DB-C9F53332B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74A37-08FC-49AC-25ED-5C36E31C1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16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CF09-9E9B-8CBA-B3D2-A8D0B0B9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066B8-2096-73ED-6777-A3ECBDB83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532C0-3D7D-D00C-5EAA-F82D1B334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651FB-C904-C54E-C7BD-E43F601DE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51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D763D-F2A2-9177-63BD-102C4355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12B27-7D0B-C050-DBF2-396DD6607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57D60-DE17-35AC-5D7B-9373D240D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BF744-D9C1-01D8-BF59-A4F1FD08F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1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8E45A-B7F2-1F00-9A65-64912517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10ECC-E76B-8348-D69B-999CFC9C5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994FD-03E2-0847-2581-DA69DCB73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Mean: The </a:t>
            </a:r>
            <a:r>
              <a:rPr lang="en-US" b="1" dirty="0"/>
              <a:t>average</a:t>
            </a:r>
            <a:r>
              <a:rPr lang="en-US" dirty="0"/>
              <a:t> of the best-found fitness values across all independent runs.</a:t>
            </a:r>
          </a:p>
          <a:p>
            <a:r>
              <a:rPr lang="en-US" dirty="0"/>
              <a:t>Median: The </a:t>
            </a:r>
            <a:r>
              <a:rPr lang="en-US" b="1" dirty="0"/>
              <a:t>middle value</a:t>
            </a:r>
            <a:r>
              <a:rPr lang="en-US" dirty="0"/>
              <a:t> of all final best results when sorted.</a:t>
            </a:r>
          </a:p>
          <a:p>
            <a:r>
              <a:rPr lang="en-US" dirty="0"/>
              <a:t>STD: The statistical variance of the final best results across runs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4B2A-A4BD-11A6-D3F6-36F6D0257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03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8853B-195E-F194-3E2B-306A9B07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898D7-5264-DB1F-065F-A2EE3FD45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EFA74-57A9-BFA0-99C9-54498BE78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67EA3-81AA-5DC9-73FD-F69EBE7C7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65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4E77-8F7F-C091-A6CD-F9591333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8D03-BCD3-2516-5A17-7890FD56F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3AAD0-5D1A-5384-531C-8A99D3C15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4F1F-92BA-AFB1-9D22-E7208D0FE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7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8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9.png"/><Relationship Id="rId11" Type="http://schemas.openxmlformats.org/officeDocument/2006/relationships/image" Target="../media/image4.png"/><Relationship Id="rId5" Type="http://schemas.openxmlformats.org/officeDocument/2006/relationships/image" Target="../media/image8.gif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alphaModFix amt="52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sz="4000" b="1" dirty="0"/>
              <a:t>Artificial Bee Colony with Adaptive Neighborhood and Gaussian Perturbation (ABCNG)</a:t>
            </a:r>
            <a:br>
              <a:rPr lang="en-US" sz="4000" b="1" dirty="0"/>
            </a:br>
            <a:r>
              <a:rPr lang="en-US" sz="4000" b="1" dirty="0"/>
              <a:t>Phase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786B1E-8437-2484-FE12-F027C16DE623}"/>
              </a:ext>
            </a:extLst>
          </p:cNvPr>
          <p:cNvSpPr txBox="1"/>
          <p:nvPr/>
        </p:nvSpPr>
        <p:spPr>
          <a:xfrm>
            <a:off x="4232476" y="4572000"/>
            <a:ext cx="3727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Amirreza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Behmanesh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Supervisor: Dr. </a:t>
            </a:r>
            <a:r>
              <a:rPr lang="en-US" dirty="0" err="1">
                <a:solidFill>
                  <a:schemeClr val="bg1"/>
                </a:solidFill>
              </a:rPr>
              <a:t>Ebadzadeh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Meta Heuristic Optimization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Dec </a:t>
            </a:r>
            <a:r>
              <a:rPr lang="en-US" dirty="0">
                <a:solidFill>
                  <a:schemeClr val="bg1"/>
                </a:solidFill>
              </a:rPr>
              <a:t>2025</a:t>
            </a:r>
          </a:p>
        </p:txBody>
      </p:sp>
      <p:pic>
        <p:nvPicPr>
          <p:cNvPr id="1026" name="Picture 2" descr="Amirkabir University of Technology - Crunchbase School Profile &amp; Alumni">
            <a:extLst>
              <a:ext uri="{FF2B5EF4-FFF2-40B4-BE49-F238E27FC236}">
                <a16:creationId xmlns:a16="http://schemas.microsoft.com/office/drawing/2014/main" id="{BA8A8E67-7459-3E6D-07A9-9E755C3FF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59" y="211431"/>
            <a:ext cx="1552321" cy="1385257"/>
          </a:xfrm>
          <a:prstGeom prst="rect">
            <a:avLst/>
          </a:prstGeom>
          <a:noFill/>
        </p:spPr>
      </p:pic>
      <p:pic>
        <p:nvPicPr>
          <p:cNvPr id="1028" name="Picture 4" descr="Amirkabir University of Technology - Department of Computer Engineering">
            <a:extLst>
              <a:ext uri="{FF2B5EF4-FFF2-40B4-BE49-F238E27FC236}">
                <a16:creationId xmlns:a16="http://schemas.microsoft.com/office/drawing/2014/main" id="{1715064A-A4E8-1E40-9DB5-780BE9A3E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4341" y="211431"/>
            <a:ext cx="1062300" cy="115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1C1E29-95AC-4EA9-C1CF-99E7BB9ADA9E}"/>
              </a:ext>
            </a:extLst>
          </p:cNvPr>
          <p:cNvSpPr txBox="1"/>
          <p:nvPr/>
        </p:nvSpPr>
        <p:spPr>
          <a:xfrm>
            <a:off x="3014663" y="1756678"/>
            <a:ext cx="616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Implementation &amp; Results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Audio 7">
            <a:extLst>
              <a:ext uri="{FF2B5EF4-FFF2-40B4-BE49-F238E27FC236}">
                <a16:creationId xmlns:a16="http://schemas.microsoft.com/office/drawing/2014/main" id="{D815B408-09DA-A83C-1A05-520ED73423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8208">
        <p159:morph option="byObject"/>
      </p:transition>
    </mc:Choice>
    <mc:Fallback>
      <p:transition spd="slow" advTm="3820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6" r="24926"/>
          <a:stretch/>
        </p:blipFill>
        <p:spPr>
          <a:xfrm>
            <a:off x="-28882" y="0"/>
            <a:ext cx="6115004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anchor="t">
            <a:normAutofit/>
          </a:bodyPr>
          <a:lstStyle/>
          <a:p>
            <a:r>
              <a:rPr lang="en-US" dirty="0"/>
              <a:t>Recap</a:t>
            </a:r>
          </a:p>
          <a:p>
            <a:r>
              <a:rPr lang="en-US" dirty="0"/>
              <a:t>variations</a:t>
            </a:r>
          </a:p>
          <a:p>
            <a:r>
              <a:rPr lang="en-US" dirty="0"/>
              <a:t>Case studies &amp; results</a:t>
            </a:r>
          </a:p>
          <a:p>
            <a:r>
              <a:rPr lang="en-US" dirty="0"/>
              <a:t>discussion</a:t>
            </a: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E2EC3167-73C5-9DF5-69BD-32DA159FA8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0506">
        <p159:morph option="byObject"/>
      </p:transition>
    </mc:Choice>
    <mc:Fallback>
      <p:transition spd="slow" advTm="3050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B42F-E6CC-0EC5-6865-10C9E320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1424-59E6-3DF1-410C-7D00A0317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6240"/>
            <a:ext cx="10515600" cy="1325880"/>
          </a:xfrm>
          <a:noFill/>
        </p:spPr>
        <p:txBody>
          <a:bodyPr anchor="ctr"/>
          <a:lstStyle/>
          <a:p>
            <a:r>
              <a:rPr lang="en-US" dirty="0" err="1"/>
              <a:t>Abcng</a:t>
            </a:r>
            <a:r>
              <a:rPr lang="en-US" dirty="0"/>
              <a:t> pseudocode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0A55DC-1461-89D2-DAE1-0650B26B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28839-9D46-317C-F0E3-D12ED66E605F}"/>
              </a:ext>
            </a:extLst>
          </p:cNvPr>
          <p:cNvSpPr txBox="1"/>
          <p:nvPr/>
        </p:nvSpPr>
        <p:spPr>
          <a:xfrm>
            <a:off x="0" y="6396315"/>
            <a:ext cx="824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Artificial Bee Colony with Adaptive Neighborhood and Gaussian Perturbation (ABCNG)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D1166-7DEA-71D5-5B1B-E7057617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/>
          </a:p>
        </p:txBody>
      </p:sp>
      <p:pic>
        <p:nvPicPr>
          <p:cNvPr id="13" name="Picture 2" descr="A precise neuro-fuzzy model enhanced by artificial bee colony techniques  for assessment of rock brittleness index | Neural Computing and Applications">
            <a:extLst>
              <a:ext uri="{FF2B5EF4-FFF2-40B4-BE49-F238E27FC236}">
                <a16:creationId xmlns:a16="http://schemas.microsoft.com/office/drawing/2014/main" id="{C3B32908-6F3C-6168-6B21-B03C0064C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216" y="2128934"/>
            <a:ext cx="3821566" cy="32023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EB247898-B68C-9A7F-8380-4F17D7ABEA62}"/>
                  </a:ext>
                </a:extLst>
              </p:cNvPr>
              <p:cNvSpPr/>
              <p:nvPr/>
            </p:nvSpPr>
            <p:spPr>
              <a:xfrm>
                <a:off x="276224" y="1123015"/>
                <a:ext cx="2990850" cy="130964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Initialize population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Initialize neighborhood radius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dirty="0"/>
                  <a:t> for each solution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dirty="0"/>
                  <a:t>Evaluate fitness of all solutions</a:t>
                </a:r>
              </a:p>
              <a:p>
                <a:r>
                  <a:rPr lang="en-US" sz="1400" dirty="0"/>
                  <a:t>repeat until max evaluations:</a:t>
                </a: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EB247898-B68C-9A7F-8380-4F17D7ABEA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4" y="1123015"/>
                <a:ext cx="2990850" cy="130964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F84F5B78-1C33-8C32-56D9-70D65007B7E1}"/>
              </a:ext>
            </a:extLst>
          </p:cNvPr>
          <p:cNvCxnSpPr>
            <a:cxnSpLocks/>
            <a:endCxn id="14" idx="3"/>
          </p:cNvCxnSpPr>
          <p:nvPr/>
        </p:nvCxnSpPr>
        <p:spPr>
          <a:xfrm rot="10800000">
            <a:off x="3267075" y="1777840"/>
            <a:ext cx="1162219" cy="6114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866C66F-F58C-B15A-2E9E-84F497152B76}"/>
                  </a:ext>
                </a:extLst>
              </p:cNvPr>
              <p:cNvSpPr/>
              <p:nvPr/>
            </p:nvSpPr>
            <p:spPr>
              <a:xfrm>
                <a:off x="191521" y="3621902"/>
                <a:ext cx="3305175" cy="21410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4"/>
                </a:pPr>
                <a:r>
                  <a:rPr lang="en-US" sz="1400" dirty="0"/>
                  <a:t>for each solution i: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400" dirty="0"/>
                  <a:t>select neighbors within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400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400" dirty="0"/>
                  <a:t>generate candidate using ABCNG update rule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400" dirty="0"/>
                  <a:t>if candidate better:</a:t>
                </a:r>
              </a:p>
              <a:p>
                <a:r>
                  <a:rPr lang="en-US" sz="1400" dirty="0"/>
                  <a:t>	replace and increase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                    else:</a:t>
                </a:r>
              </a:p>
              <a:p>
                <a:r>
                  <a:rPr lang="en-US" sz="1400" dirty="0"/>
                  <a:t>           	decrease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866C66F-F58C-B15A-2E9E-84F497152B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21" y="3621902"/>
                <a:ext cx="3305175" cy="214102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FD509D1C-FD4B-1FBB-32D4-560F7BEDE8F1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3496696" y="4289088"/>
            <a:ext cx="1570604" cy="40332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227A96B0-C315-0113-D7B1-8950B04DB492}"/>
              </a:ext>
            </a:extLst>
          </p:cNvPr>
          <p:cNvSpPr/>
          <p:nvPr/>
        </p:nvSpPr>
        <p:spPr>
          <a:xfrm>
            <a:off x="1585910" y="710543"/>
            <a:ext cx="342900" cy="3429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B6A5D401-2F38-C289-11D1-C32AB42888D4}"/>
              </a:ext>
            </a:extLst>
          </p:cNvPr>
          <p:cNvSpPr/>
          <p:nvPr/>
        </p:nvSpPr>
        <p:spPr>
          <a:xfrm>
            <a:off x="1686947" y="3210119"/>
            <a:ext cx="342900" cy="3429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2F912B8-B87F-3CBB-6BAF-FD7604E6E10F}"/>
              </a:ext>
            </a:extLst>
          </p:cNvPr>
          <p:cNvSpPr/>
          <p:nvPr/>
        </p:nvSpPr>
        <p:spPr>
          <a:xfrm>
            <a:off x="8198980" y="1624330"/>
            <a:ext cx="3926341" cy="2141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5"/>
            </a:pPr>
            <a:r>
              <a:rPr lang="en-US" sz="1400" dirty="0"/>
              <a:t>compute selection probabilities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for each onlooker: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/>
              <a:t>pick solution based on probability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/>
              <a:t>generate candidate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400" dirty="0"/>
              <a:t>if no improvement:</a:t>
            </a:r>
          </a:p>
          <a:p>
            <a:r>
              <a:rPr lang="en-US" sz="1400" dirty="0"/>
              <a:t>	             apply Gaussian perturbation</a:t>
            </a:r>
          </a:p>
          <a:p>
            <a:pPr marL="1257300" lvl="2" indent="-342900">
              <a:buFont typeface="+mj-lt"/>
              <a:buAutoNum type="arabicPeriod" startAt="4"/>
            </a:pPr>
            <a:r>
              <a:rPr lang="en-US" sz="1400" dirty="0"/>
              <a:t>update k accordingly</a:t>
            </a:r>
          </a:p>
          <a:p>
            <a:pPr marL="1257300" lvl="2" indent="-342900">
              <a:buFont typeface="+mj-lt"/>
              <a:buAutoNum type="arabicPeriod" startAt="4"/>
            </a:pPr>
            <a:r>
              <a:rPr lang="en-US" sz="1400" dirty="0"/>
              <a:t>Update evolutionary rates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B390482F-0C39-1CCE-AD74-5AE3E4857C8F}"/>
              </a:ext>
            </a:extLst>
          </p:cNvPr>
          <p:cNvSpPr/>
          <p:nvPr/>
        </p:nvSpPr>
        <p:spPr>
          <a:xfrm>
            <a:off x="10001246" y="1232797"/>
            <a:ext cx="342900" cy="3429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43DFDC19-1B7E-5919-5291-5B258EEBB896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7467600" y="2263153"/>
            <a:ext cx="731380" cy="43169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9D64DD37-22B7-7436-D5E2-3352EB45C528}"/>
                  </a:ext>
                </a:extLst>
              </p:cNvPr>
              <p:cNvSpPr/>
              <p:nvPr/>
            </p:nvSpPr>
            <p:spPr>
              <a:xfrm>
                <a:off x="8924923" y="4822563"/>
                <a:ext cx="2697616" cy="72761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6"/>
                </a:pPr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𝑡𝑟𝑖𝑎𝑙𝑠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] &gt;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𝑙𝑖𝑚𝑖𝑡</m:t>
                    </m:r>
                  </m:oMath>
                </a14:m>
                <a:r>
                  <a:rPr lang="en-US" sz="1400" dirty="0"/>
                  <a:t>:</a:t>
                </a:r>
              </a:p>
              <a:p>
                <a:r>
                  <a:rPr lang="en-US" sz="1400" dirty="0"/>
                  <a:t>	reinitialize solution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9D64DD37-22B7-7436-D5E2-3352EB45C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923" y="4822563"/>
                <a:ext cx="2697616" cy="727614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B15CC9ED-21D3-1D40-DCBD-DCD79B53E17B}"/>
              </a:ext>
            </a:extLst>
          </p:cNvPr>
          <p:cNvSpPr/>
          <p:nvPr/>
        </p:nvSpPr>
        <p:spPr>
          <a:xfrm>
            <a:off x="10102281" y="4374316"/>
            <a:ext cx="342900" cy="3429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AF1ADB22-5041-DBEF-3BC2-283DB3E01ABC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7010400" y="5186370"/>
            <a:ext cx="1914523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Audio 6">
            <a:extLst>
              <a:ext uri="{FF2B5EF4-FFF2-40B4-BE49-F238E27FC236}">
                <a16:creationId xmlns:a16="http://schemas.microsoft.com/office/drawing/2014/main" id="{96FBA2FE-1791-A640-B36A-70A8448690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97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47444">
        <p159:morph option="byObject"/>
      </p:transition>
    </mc:Choice>
    <mc:Fallback>
      <p:transition spd="slow" advTm="4744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B046-C62D-ABE9-78E5-0A0C18447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A329-414D-EA9F-AADB-9E21AB691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Proposed variations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007E08F3-3AE9-97B8-C6D8-66777DCE6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80617"/>
            <a:ext cx="4048125" cy="4137189"/>
          </a:xfrm>
        </p:spPr>
        <p:txBody>
          <a:bodyPr>
            <a:normAutofit/>
          </a:bodyPr>
          <a:lstStyle/>
          <a:p>
            <a:r>
              <a:rPr lang="en-GB" dirty="0"/>
              <a:t>Guidance: </a:t>
            </a:r>
            <a:r>
              <a:rPr lang="en-GB" dirty="0" err="1"/>
              <a:t>GBest</a:t>
            </a:r>
            <a:r>
              <a:rPr lang="en-GB" dirty="0"/>
              <a:t> on vs off</a:t>
            </a:r>
          </a:p>
          <a:p>
            <a:r>
              <a:rPr lang="en-GB" dirty="0"/>
              <a:t>Neighbourhood adaptation: adaptive‑k on vs off</a:t>
            </a:r>
          </a:p>
          <a:p>
            <a:r>
              <a:rPr lang="en-GB" dirty="0"/>
              <a:t>Noise model: Gaussian vs Cauchy vs Uniform</a:t>
            </a:r>
          </a:p>
          <a:p>
            <a:r>
              <a:rPr lang="en-GB" dirty="0"/>
              <a:t>Neighbour selection: self vs neighbour</a:t>
            </a:r>
            <a:endParaRPr lang="fa-IR" dirty="0"/>
          </a:p>
          <a:p>
            <a:r>
              <a:rPr lang="en-US" dirty="0"/>
              <a:t>Sparse updates (Single dimension and </a:t>
            </a:r>
            <a:r>
              <a:rPr lang="en-US"/>
              <a:t>K-random)</a:t>
            </a:r>
            <a:endParaRPr lang="en-GB" dirty="0"/>
          </a:p>
          <a:p>
            <a:r>
              <a:rPr lang="en-GB" dirty="0"/>
              <a:t>Random combination of all above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F8448D-B8B8-EA7C-0522-4D90912D2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3AA81-5330-3982-457E-9C9EFA3D253E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B01A1ED-81D5-3499-8DB8-304E3022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/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C2DAB8DC-0B84-29AB-4189-F77701B48C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32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45002">
        <p159:morph option="byObject"/>
      </p:transition>
    </mc:Choice>
    <mc:Fallback>
      <p:transition spd="slow" advTm="4500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63CB-B1F9-086C-C176-0AF0D7BC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572CDF4F-DC4E-7D61-536D-6D5E459FC1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982AC9-E29E-6C34-E5EC-B82C010A6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Case studies &amp; Results</a:t>
            </a:r>
          </a:p>
        </p:txBody>
      </p:sp>
    </p:spTree>
    <p:extLst>
      <p:ext uri="{BB962C8B-B14F-4D97-AF65-F5344CB8AC3E}">
        <p14:creationId xmlns:p14="http://schemas.microsoft.com/office/powerpoint/2010/main" val="64199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Experimental setup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80617"/>
            <a:ext cx="4048125" cy="4137189"/>
          </a:xfrm>
        </p:spPr>
        <p:txBody>
          <a:bodyPr>
            <a:normAutofit/>
          </a:bodyPr>
          <a:lstStyle/>
          <a:p>
            <a:r>
              <a:rPr lang="en-GB" dirty="0"/>
              <a:t>Benchmarks: Sphere, </a:t>
            </a:r>
            <a:r>
              <a:rPr lang="en-GB" dirty="0" err="1"/>
              <a:t>Rastrigin</a:t>
            </a:r>
            <a:r>
              <a:rPr lang="en-GB" dirty="0"/>
              <a:t>, Rosenbrock, Ackley, </a:t>
            </a:r>
            <a:r>
              <a:rPr lang="en-GB" dirty="0" err="1"/>
              <a:t>Griewank</a:t>
            </a:r>
            <a:r>
              <a:rPr lang="en-GB" dirty="0"/>
              <a:t> (new), Schwefel (new)</a:t>
            </a:r>
          </a:p>
          <a:p>
            <a:r>
              <a:rPr lang="en-GB" dirty="0"/>
              <a:t>Dimensions: 30, 50 and 100</a:t>
            </a:r>
          </a:p>
          <a:p>
            <a:r>
              <a:rPr lang="en-GB" dirty="0"/>
              <a:t>Budget: 5000 * D evaluations per function/dimension</a:t>
            </a:r>
          </a:p>
          <a:p>
            <a:r>
              <a:rPr lang="en-GB" dirty="0"/>
              <a:t>Runs: 25 per variant</a:t>
            </a:r>
          </a:p>
          <a:p>
            <a:r>
              <a:rPr lang="en-GB" dirty="0"/>
              <a:t>Population size: 50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339F5-BB99-CCE5-7D9C-8732792AC462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0556C55-C264-0019-4395-2AEEB48E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 descr="sphere (MATLAB Function Reference)">
            <a:extLst>
              <a:ext uri="{FF2B5EF4-FFF2-40B4-BE49-F238E27FC236}">
                <a16:creationId xmlns:a16="http://schemas.microsoft.com/office/drawing/2014/main" id="{D1FE6F72-940B-CC28-AE16-29A7E9421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894" y="1773090"/>
            <a:ext cx="1507306" cy="157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Rastrigin Function">
            <a:extLst>
              <a:ext uri="{FF2B5EF4-FFF2-40B4-BE49-F238E27FC236}">
                <a16:creationId xmlns:a16="http://schemas.microsoft.com/office/drawing/2014/main" id="{D98C49B2-B7D9-A125-D5BC-1A6578985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452" y="1734661"/>
            <a:ext cx="2270547" cy="170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osenbrock Function">
            <a:extLst>
              <a:ext uri="{FF2B5EF4-FFF2-40B4-BE49-F238E27FC236}">
                <a16:creationId xmlns:a16="http://schemas.microsoft.com/office/drawing/2014/main" id="{A7F0B0D8-1559-E4E4-21D1-0C06D4554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555" y="3670038"/>
            <a:ext cx="2317984" cy="173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Ackley Function">
            <a:extLst>
              <a:ext uri="{FF2B5EF4-FFF2-40B4-BE49-F238E27FC236}">
                <a16:creationId xmlns:a16="http://schemas.microsoft.com/office/drawing/2014/main" id="{D7F8644E-5089-D962-11FE-D384EECDF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665" y="3734178"/>
            <a:ext cx="2139411" cy="160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3FEAFB0-0CF5-7BCD-3BF9-A599BD962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171" y="1897025"/>
            <a:ext cx="2142723" cy="144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37EC6E-50E5-3B59-218A-486C2E974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591" y="3600248"/>
            <a:ext cx="2317984" cy="173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udio 9">
            <a:extLst>
              <a:ext uri="{FF2B5EF4-FFF2-40B4-BE49-F238E27FC236}">
                <a16:creationId xmlns:a16="http://schemas.microsoft.com/office/drawing/2014/main" id="{D1523F1C-F494-CB34-8E07-217135A5B9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7646">
        <p159:morph option="byObject"/>
      </p:transition>
    </mc:Choice>
    <mc:Fallback>
      <p:transition spd="slow" advTm="5764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37F9-F024-D2DF-FA40-FB06A01D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7EC7-83B9-E727-FDB7-49A9A5D30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Results (Ackley)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1C644-C4F7-0AC5-C9DE-A131F672C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B6B7-E50C-38E1-64F4-23428390679E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B041AF6-A7EC-4019-D624-6E673664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9649B5-8EDD-3EFF-811B-8E33ADF330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2" y="1599288"/>
            <a:ext cx="6833617" cy="1898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3719AF-61AB-DC8B-F6BC-DFDC48EF61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2" y="2941763"/>
            <a:ext cx="6833617" cy="1898227"/>
          </a:xfrm>
          <a:prstGeom prst="rect">
            <a:avLst/>
          </a:prstGeom>
        </p:spPr>
      </p:pic>
      <p:pic>
        <p:nvPicPr>
          <p:cNvPr id="8" name="Picture 12" descr="Ackley Function">
            <a:extLst>
              <a:ext uri="{FF2B5EF4-FFF2-40B4-BE49-F238E27FC236}">
                <a16:creationId xmlns:a16="http://schemas.microsoft.com/office/drawing/2014/main" id="{6ABCAA6B-0D42-1F2A-0734-DB437D1D8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589" y="-5270"/>
            <a:ext cx="2139411" cy="160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51">
            <a:extLst>
              <a:ext uri="{FF2B5EF4-FFF2-40B4-BE49-F238E27FC236}">
                <a16:creationId xmlns:a16="http://schemas.microsoft.com/office/drawing/2014/main" id="{ABBECF7F-D075-ACCB-0F54-1C6FA10678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1097" y="1773412"/>
            <a:ext cx="4048125" cy="4137189"/>
          </a:xfrm>
        </p:spPr>
        <p:txBody>
          <a:bodyPr>
            <a:normAutofit/>
          </a:bodyPr>
          <a:lstStyle/>
          <a:p>
            <a:r>
              <a:rPr lang="en-GB" dirty="0"/>
              <a:t>Best performance comes from removing </a:t>
            </a:r>
            <a:r>
              <a:rPr lang="en-GB" dirty="0" err="1"/>
              <a:t>GBest</a:t>
            </a:r>
            <a:r>
              <a:rPr lang="en-GB" dirty="0"/>
              <a:t>; no‑</a:t>
            </a:r>
            <a:r>
              <a:rPr lang="en-GB" dirty="0" err="1"/>
              <a:t>GBest</a:t>
            </a:r>
            <a:r>
              <a:rPr lang="en-GB" dirty="0"/>
              <a:t> variants reach near‑zero medians at D=30/50.</a:t>
            </a:r>
          </a:p>
          <a:p>
            <a:r>
              <a:rPr lang="en-GB" dirty="0"/>
              <a:t>Default ABCNG is worse than ABC on Ackley under these settings.</a:t>
            </a:r>
          </a:p>
          <a:p>
            <a:r>
              <a:rPr lang="en-GB" dirty="0"/>
              <a:t>Sparse updates (single/k‑random dims) are the weakest; noise variants also degrade results.</a:t>
            </a:r>
          </a:p>
          <a:p>
            <a:r>
              <a:rPr lang="en-GB" dirty="0"/>
              <a:t>Self‑in‑eq7 can hit very low medians but shows high variance (unstable).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87CF69-90BE-B2A0-05AA-4E400A60DF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8611" y="4284238"/>
            <a:ext cx="6833617" cy="1898227"/>
          </a:xfrm>
          <a:prstGeom prst="rect">
            <a:avLst/>
          </a:prstGeo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4D65D2E3-7E36-B6BF-EC80-95D3EF48B1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368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1386">
        <p159:morph option="byObject"/>
      </p:transition>
    </mc:Choice>
    <mc:Fallback>
      <p:transition spd="slow" advTm="6138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413E2-36AE-8585-9EE3-B2AD25AA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6DC16-0C52-9D8D-C224-0A35414A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Results (</a:t>
            </a:r>
            <a:r>
              <a:rPr lang="en-US" dirty="0" err="1"/>
              <a:t>griewank</a:t>
            </a:r>
            <a:r>
              <a:rPr lang="en-U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5E8EBD-1C78-70A8-9FF1-D7BD2D001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191C6-CD28-4D6D-75CF-4E4DAC755A0D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8EB7A0C-EAE6-651D-5926-77675B0B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78F2D6-61D8-212E-32FA-C2D70625C0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2" y="1599288"/>
            <a:ext cx="6833617" cy="1898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864123-29CD-E645-5C14-173F6E9973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2" y="2941763"/>
            <a:ext cx="6833617" cy="1898226"/>
          </a:xfrm>
          <a:prstGeom prst="rect">
            <a:avLst/>
          </a:prstGeom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4D10F219-A435-437B-4F04-99907676D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52589" y="0"/>
            <a:ext cx="2139411" cy="144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51">
            <a:extLst>
              <a:ext uri="{FF2B5EF4-FFF2-40B4-BE49-F238E27FC236}">
                <a16:creationId xmlns:a16="http://schemas.microsoft.com/office/drawing/2014/main" id="{B3585C39-8139-9E32-6178-C8080B0575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1097" y="1773412"/>
            <a:ext cx="4048125" cy="4137189"/>
          </a:xfrm>
        </p:spPr>
        <p:txBody>
          <a:bodyPr>
            <a:normAutofit/>
          </a:bodyPr>
          <a:lstStyle/>
          <a:p>
            <a:r>
              <a:rPr lang="en-GB" dirty="0"/>
              <a:t>Removing </a:t>
            </a:r>
            <a:r>
              <a:rPr lang="en-GB" dirty="0" err="1"/>
              <a:t>gbest</a:t>
            </a:r>
            <a:r>
              <a:rPr lang="en-GB" dirty="0"/>
              <a:t> or using self‑in‑eq7 gives the best medians (often ~0), especially at D=30/50/100.</a:t>
            </a:r>
          </a:p>
          <a:p>
            <a:r>
              <a:rPr lang="en-GB" dirty="0"/>
              <a:t>Default ABCNG beats ABC at D=50/100, but ABC is stronger at D=30.</a:t>
            </a:r>
          </a:p>
          <a:p>
            <a:r>
              <a:rPr lang="en-GB" dirty="0"/>
              <a:t>Sparse updates are consistently worst (single‑dim and k‑random explode).</a:t>
            </a:r>
          </a:p>
          <a:p>
            <a:r>
              <a:rPr lang="en-GB" dirty="0"/>
              <a:t>Noise variants generally degrade performance; </a:t>
            </a:r>
            <a:r>
              <a:rPr lang="en-GB" dirty="0" err="1"/>
              <a:t>noise_uniform</a:t>
            </a:r>
            <a:r>
              <a:rPr lang="en-GB" dirty="0"/>
              <a:t> is especially unstable at higher 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D035CA-C6CF-4DA0-207F-D103C4305E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1" y="4284238"/>
            <a:ext cx="6833617" cy="1898226"/>
          </a:xfrm>
          <a:prstGeom prst="rect">
            <a:avLst/>
          </a:prstGeo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5611FD14-B999-DA05-26D3-8F118C9262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73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1531">
        <p159:morph option="byObject"/>
      </p:transition>
    </mc:Choice>
    <mc:Fallback>
      <p:transition spd="slow" advTm="6153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17D4-E70D-D0E9-FF90-4F16E1A6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B8F5-3E00-EC6B-1F18-2F8D17CFE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Results (</a:t>
            </a:r>
            <a:r>
              <a:rPr lang="en-US" dirty="0" err="1"/>
              <a:t>rastrigin</a:t>
            </a:r>
            <a:r>
              <a:rPr lang="en-U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8E708-7D76-84DC-9594-D2F6FB400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FD790-60B6-2301-4DE3-4174934624DD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CF2996F-667C-4FB7-402F-0AD830BD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18122-4CE0-AD6B-2AE3-9D6BD3B0E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4" y="1599288"/>
            <a:ext cx="6833613" cy="1898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B7D986-0832-26B3-ED91-4474361CA9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4" y="2941763"/>
            <a:ext cx="6833613" cy="1898226"/>
          </a:xfrm>
          <a:prstGeom prst="rect">
            <a:avLst/>
          </a:prstGeom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15A973CC-FF5D-B895-9819-EBF4A6F25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52589" y="0"/>
            <a:ext cx="2139411" cy="144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51">
            <a:extLst>
              <a:ext uri="{FF2B5EF4-FFF2-40B4-BE49-F238E27FC236}">
                <a16:creationId xmlns:a16="http://schemas.microsoft.com/office/drawing/2014/main" id="{A9E89440-389F-2E08-D673-45D6CD0D5C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1097" y="1773412"/>
            <a:ext cx="4048125" cy="4137189"/>
          </a:xfrm>
        </p:spPr>
        <p:txBody>
          <a:bodyPr>
            <a:normAutofit/>
          </a:bodyPr>
          <a:lstStyle/>
          <a:p>
            <a:r>
              <a:rPr lang="en-GB" dirty="0"/>
              <a:t>ABCNG variants beat ABC across all dims; the biggest gains come from removing </a:t>
            </a:r>
            <a:r>
              <a:rPr lang="en-GB" dirty="0" err="1"/>
              <a:t>gbest</a:t>
            </a:r>
            <a:r>
              <a:rPr lang="en-GB" dirty="0"/>
              <a:t> (lowest medians at D=30/50/100).</a:t>
            </a:r>
          </a:p>
          <a:p>
            <a:r>
              <a:rPr lang="en-GB" dirty="0"/>
              <a:t>Default ABCNG is solidly better than ABC, but not as strong as no‑</a:t>
            </a:r>
            <a:r>
              <a:rPr lang="en-GB" dirty="0" err="1"/>
              <a:t>gbest</a:t>
            </a:r>
            <a:r>
              <a:rPr lang="en-GB" dirty="0"/>
              <a:t> variants.</a:t>
            </a:r>
          </a:p>
          <a:p>
            <a:r>
              <a:rPr lang="en-GB" dirty="0"/>
              <a:t>Sparse updates are worst (single‑dim, k‑random), and noise variants don’t help.</a:t>
            </a:r>
          </a:p>
          <a:p>
            <a:r>
              <a:rPr lang="en-GB" dirty="0"/>
              <a:t>Self‑in‑eq7 is mixed: better than ABC but behind the best no‑</a:t>
            </a:r>
            <a:r>
              <a:rPr lang="en-GB" dirty="0" err="1"/>
              <a:t>gbest</a:t>
            </a:r>
            <a:r>
              <a:rPr lang="en-GB" dirty="0"/>
              <a:t> variants.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1F43A7-E2B6-76AB-9A28-245506456C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3" y="4284238"/>
            <a:ext cx="6833613" cy="1898226"/>
          </a:xfrm>
          <a:prstGeom prst="rect">
            <a:avLst/>
          </a:prstGeom>
        </p:spPr>
      </p:pic>
      <p:pic>
        <p:nvPicPr>
          <p:cNvPr id="12" name="Audio 11">
            <a:extLst>
              <a:ext uri="{FF2B5EF4-FFF2-40B4-BE49-F238E27FC236}">
                <a16:creationId xmlns:a16="http://schemas.microsoft.com/office/drawing/2014/main" id="{96922A00-3843-D6B4-4744-C9291AE532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957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87925">
        <p159:morph option="byObject"/>
      </p:transition>
    </mc:Choice>
    <mc:Fallback>
      <p:transition spd="slow" advTm="8792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5B3F4-CDBF-050F-C356-15316B42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081FD-D306-100C-7B1B-9DB41D663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Results (</a:t>
            </a:r>
            <a:r>
              <a:rPr lang="en-US" dirty="0" err="1"/>
              <a:t>rosenbrock</a:t>
            </a:r>
            <a:r>
              <a:rPr lang="en-U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1524E6-B618-B404-8F7D-5300DAC37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EA51B-8E46-F32B-E5B1-0C4770519337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BAC101F-A370-5FF4-1039-DEDAAE03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A185C-CD6E-6950-9D5B-33552D54F4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4" y="1599288"/>
            <a:ext cx="6833613" cy="189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1F69DA-5827-E1A1-E046-C19249600F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4" y="2941763"/>
            <a:ext cx="6833613" cy="1898225"/>
          </a:xfrm>
          <a:prstGeom prst="rect">
            <a:avLst/>
          </a:prstGeom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F61DE704-9A84-607D-60C2-1E2C3020D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52589" y="0"/>
            <a:ext cx="2139411" cy="144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51">
            <a:extLst>
              <a:ext uri="{FF2B5EF4-FFF2-40B4-BE49-F238E27FC236}">
                <a16:creationId xmlns:a16="http://schemas.microsoft.com/office/drawing/2014/main" id="{587760AD-B17B-B3CE-CBC0-F4A3193325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1097" y="1773412"/>
            <a:ext cx="4048125" cy="4137189"/>
          </a:xfrm>
        </p:spPr>
        <p:txBody>
          <a:bodyPr>
            <a:normAutofit/>
          </a:bodyPr>
          <a:lstStyle/>
          <a:p>
            <a:r>
              <a:rPr lang="en-GB" dirty="0"/>
              <a:t>ABCNG clearly beats ABC across all dims; ABC is orders of magnitude worse at D=50/100.</a:t>
            </a:r>
          </a:p>
          <a:p>
            <a:r>
              <a:rPr lang="en-GB" dirty="0"/>
              <a:t>Best medians come from variants that keep </a:t>
            </a:r>
            <a:r>
              <a:rPr lang="en-GB" dirty="0" err="1"/>
              <a:t>gbest</a:t>
            </a:r>
            <a:r>
              <a:rPr lang="en-GB" dirty="0"/>
              <a:t> and avoid sparse updates; </a:t>
            </a:r>
            <a:r>
              <a:rPr lang="en-GB" dirty="0" err="1"/>
              <a:t>no_gaussian</a:t>
            </a:r>
            <a:r>
              <a:rPr lang="en-GB" dirty="0"/>
              <a:t> is especially strong at D=30/50.</a:t>
            </a:r>
          </a:p>
          <a:p>
            <a:r>
              <a:rPr lang="en-GB" dirty="0"/>
              <a:t>Removing </a:t>
            </a:r>
            <a:r>
              <a:rPr lang="en-GB" dirty="0" err="1"/>
              <a:t>gbest</a:t>
            </a:r>
            <a:r>
              <a:rPr lang="en-GB" dirty="0"/>
              <a:t> hurts Rosenbrock badly (medians jump).</a:t>
            </a:r>
          </a:p>
          <a:p>
            <a:r>
              <a:rPr lang="en-GB" dirty="0"/>
              <a:t>Sparse updates (single/k‑random) are catastrophic across all dims.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1FFCBA-889E-0338-0E43-8028AD6111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3" y="4284238"/>
            <a:ext cx="6833613" cy="1898225"/>
          </a:xfrm>
          <a:prstGeom prst="rect">
            <a:avLst/>
          </a:prstGeo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4FB47486-37C6-17A5-7F0B-9BCC3688CC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43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6341">
        <p159:morph option="byObject"/>
      </p:transition>
    </mc:Choice>
    <mc:Fallback>
      <p:transition spd="slow" advTm="6634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D164B-2D86-4EE5-3312-9C5A25BA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62A2-3BA9-1640-D16A-580F49353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Results (</a:t>
            </a:r>
            <a:r>
              <a:rPr lang="en-US" dirty="0" err="1"/>
              <a:t>schwefel</a:t>
            </a:r>
            <a:r>
              <a:rPr lang="en-U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8B4ABE-058B-7E55-DDA5-C23FB1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B26C17-855E-201E-E0D2-B0F31BAA90A1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0DBC3FF-9663-9A07-8317-195F524B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A632D-3B25-151F-C39E-93A7567AF1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5" y="1599288"/>
            <a:ext cx="6833610" cy="189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15D501-9EAC-6A54-12D6-499CC6BCBF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5" y="2941763"/>
            <a:ext cx="6833610" cy="1898225"/>
          </a:xfrm>
          <a:prstGeom prst="rect">
            <a:avLst/>
          </a:prstGeom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2087F9DC-4B83-365D-B0AD-6D1ABFD09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52589" y="0"/>
            <a:ext cx="2139411" cy="144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51">
            <a:extLst>
              <a:ext uri="{FF2B5EF4-FFF2-40B4-BE49-F238E27FC236}">
                <a16:creationId xmlns:a16="http://schemas.microsoft.com/office/drawing/2014/main" id="{D6449690-A7A8-74FF-93BA-A2B91FED36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1097" y="1773412"/>
            <a:ext cx="4048125" cy="4137189"/>
          </a:xfrm>
        </p:spPr>
        <p:txBody>
          <a:bodyPr>
            <a:normAutofit/>
          </a:bodyPr>
          <a:lstStyle/>
          <a:p>
            <a:r>
              <a:rPr lang="en-GB" dirty="0"/>
              <a:t>ABCNG variants consistently outperform ABC across D=30/50/100 (lower medians).</a:t>
            </a:r>
          </a:p>
          <a:p>
            <a:r>
              <a:rPr lang="en-GB" dirty="0"/>
              <a:t>Best results come from </a:t>
            </a:r>
            <a:r>
              <a:rPr lang="en-GB" b="1" dirty="0"/>
              <a:t>self_in_eq7</a:t>
            </a:r>
            <a:r>
              <a:rPr lang="en-GB" dirty="0"/>
              <a:t> (especially with </a:t>
            </a:r>
            <a:r>
              <a:rPr lang="en-GB" dirty="0" err="1"/>
              <a:t>no_gaussian</a:t>
            </a:r>
            <a:r>
              <a:rPr lang="en-GB" dirty="0"/>
              <a:t>) at all dims.</a:t>
            </a:r>
          </a:p>
          <a:p>
            <a:r>
              <a:rPr lang="en-GB" dirty="0"/>
              <a:t>Removing </a:t>
            </a:r>
            <a:r>
              <a:rPr lang="en-GB" dirty="0" err="1"/>
              <a:t>gbest</a:t>
            </a:r>
            <a:r>
              <a:rPr lang="en-GB" dirty="0"/>
              <a:t> is mixed: slight gains at D=50 but not a clear winner overall.</a:t>
            </a:r>
          </a:p>
          <a:p>
            <a:r>
              <a:rPr lang="en-GB" dirty="0"/>
              <a:t>Sparse updates are worst (single‑dim and k‑random scale poorly as D grows).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B67DCD-4585-143E-3B00-023D4F8507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4" y="4284238"/>
            <a:ext cx="6833610" cy="1898225"/>
          </a:xfrm>
          <a:prstGeom prst="rect">
            <a:avLst/>
          </a:prstGeo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B20D37E5-9496-F5D3-3578-0C11BF6065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76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2730">
        <p159:morph option="byObject"/>
      </p:transition>
    </mc:Choice>
    <mc:Fallback>
      <p:transition spd="slow" advTm="6273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5BDB-D48C-081C-3742-916D7CB9E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40B7-0466-4FEC-63F0-9F2775767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Results (sphere)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BB156A-66EB-B04D-A462-2BADB0DCD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5A444B-2AFE-8278-F582-F3B61A04AAB9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742D068-26A8-923A-4CC4-D811FB33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FACEB-F540-F889-68BB-223865E3BA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5" y="1599288"/>
            <a:ext cx="6833610" cy="189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538FA8-E6A9-D42E-EB32-9F524D60F5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5" y="2941763"/>
            <a:ext cx="6833610" cy="1898225"/>
          </a:xfrm>
          <a:prstGeom prst="rect">
            <a:avLst/>
          </a:prstGeom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19A00377-28B8-F7DF-34EF-A7890FE5F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52589" y="0"/>
            <a:ext cx="2139411" cy="144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51">
            <a:extLst>
              <a:ext uri="{FF2B5EF4-FFF2-40B4-BE49-F238E27FC236}">
                <a16:creationId xmlns:a16="http://schemas.microsoft.com/office/drawing/2014/main" id="{581CA0FD-3DA6-D086-57AF-ABC1F4FB2E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1097" y="1773412"/>
            <a:ext cx="4048125" cy="4137189"/>
          </a:xfrm>
        </p:spPr>
        <p:txBody>
          <a:bodyPr>
            <a:normAutofit/>
          </a:bodyPr>
          <a:lstStyle/>
          <a:p>
            <a:r>
              <a:rPr lang="en-GB" dirty="0"/>
              <a:t>ABCNG variants massively outperform ABC at all dims (medians drop to ~1e‑80 or lower).</a:t>
            </a:r>
          </a:p>
          <a:p>
            <a:r>
              <a:rPr lang="en-GB" dirty="0"/>
              <a:t>Best results come from Gaussian‑free variants (</a:t>
            </a:r>
            <a:r>
              <a:rPr lang="en-GB" dirty="0" err="1"/>
              <a:t>no_gaussian</a:t>
            </a:r>
            <a:r>
              <a:rPr lang="en-GB" dirty="0"/>
              <a:t>, </a:t>
            </a:r>
            <a:r>
              <a:rPr lang="en-GB" dirty="0" err="1"/>
              <a:t>no_adaptive_k_no_gaussian</a:t>
            </a:r>
            <a:r>
              <a:rPr lang="en-GB" dirty="0"/>
              <a:t>) with extremely small medians.</a:t>
            </a:r>
          </a:p>
          <a:p>
            <a:r>
              <a:rPr lang="en-GB" dirty="0"/>
              <a:t>Removing </a:t>
            </a:r>
            <a:r>
              <a:rPr lang="en-GB" dirty="0" err="1"/>
              <a:t>gbest</a:t>
            </a:r>
            <a:r>
              <a:rPr lang="en-GB" dirty="0"/>
              <a:t> hurts Sphere performance, and sparse updates (single/k‑random) are catastrophic.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0C9F8-6A76-DDBA-376F-6A140D1F11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614" y="4284238"/>
            <a:ext cx="6833610" cy="1898225"/>
          </a:xfrm>
          <a:prstGeom prst="rect">
            <a:avLst/>
          </a:prstGeo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A04FB4CC-9DF4-7045-090C-BAEC9E3E57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21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6234">
        <p159:morph option="byObject"/>
      </p:transition>
    </mc:Choice>
    <mc:Fallback>
      <p:transition spd="slow" advTm="562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CD3BA-BC1D-0CEB-F8FC-4F7BBE59D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B63F1-D9DA-C54F-EAD6-57F4FF8A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Results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EE11F-3913-B25F-23DD-F05A09FF3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55577-C31E-9180-2C5D-D4ECF0C64A5A}"/>
              </a:ext>
            </a:extLst>
          </p:cNvPr>
          <p:cNvSpPr txBox="1"/>
          <p:nvPr/>
        </p:nvSpPr>
        <p:spPr>
          <a:xfrm>
            <a:off x="0" y="6396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038A0AC-816F-10B5-9126-B2CC112E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0BF1F10-A3BA-5F4D-2E80-76AD070403B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122105027"/>
              </p:ext>
            </p:extLst>
          </p:nvPr>
        </p:nvGraphicFramePr>
        <p:xfrm>
          <a:off x="6540541" y="1691640"/>
          <a:ext cx="4529583" cy="411894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94994">
                  <a:extLst>
                    <a:ext uri="{9D8B030D-6E8A-4147-A177-3AD203B41FA5}">
                      <a16:colId xmlns:a16="http://schemas.microsoft.com/office/drawing/2014/main" val="419257463"/>
                    </a:ext>
                  </a:extLst>
                </a:gridCol>
                <a:gridCol w="1819720">
                  <a:extLst>
                    <a:ext uri="{9D8B030D-6E8A-4147-A177-3AD203B41FA5}">
                      <a16:colId xmlns:a16="http://schemas.microsoft.com/office/drawing/2014/main" val="2215099371"/>
                    </a:ext>
                  </a:extLst>
                </a:gridCol>
                <a:gridCol w="1614869">
                  <a:extLst>
                    <a:ext uri="{9D8B030D-6E8A-4147-A177-3AD203B41FA5}">
                      <a16:colId xmlns:a16="http://schemas.microsoft.com/office/drawing/2014/main" val="270399106"/>
                    </a:ext>
                  </a:extLst>
                </a:gridCol>
              </a:tblGrid>
              <a:tr h="5884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Variant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Median (across dims)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385363"/>
                  </a:ext>
                </a:extLst>
              </a:tr>
              <a:tr h="5884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Ackley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self_in_eq7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2.176e-14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062374"/>
                  </a:ext>
                </a:extLst>
              </a:tr>
              <a:tr h="5884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Griewank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self_in_eq7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0.000e+00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4006421"/>
                  </a:ext>
                </a:extLst>
              </a:tr>
              <a:tr h="5884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Rastrigin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no_gbest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1.065e+02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6480142"/>
                  </a:ext>
                </a:extLst>
              </a:tr>
              <a:tr h="5884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Rosenbrock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no_gaussian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4.364e-02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2018228"/>
                  </a:ext>
                </a:extLst>
              </a:tr>
              <a:tr h="5884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Schwefel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self_in_eq7_no_gaussian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4.501e+03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298830"/>
                  </a:ext>
                </a:extLst>
              </a:tr>
              <a:tr h="58842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Sphere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no_gaussian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1.027e-166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4167094"/>
                  </a:ext>
                </a:extLst>
              </a:tr>
            </a:tbl>
          </a:graphicData>
        </a:graphic>
      </p:graphicFrame>
      <p:sp>
        <p:nvSpPr>
          <p:cNvPr id="3" name="Content Placeholder 51">
            <a:extLst>
              <a:ext uri="{FF2B5EF4-FFF2-40B4-BE49-F238E27FC236}">
                <a16:creationId xmlns:a16="http://schemas.microsoft.com/office/drawing/2014/main" id="{F53BE264-FDBE-7859-205D-42E7422CCA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82519"/>
            <a:ext cx="4670778" cy="4137189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self_in_eq7</a:t>
            </a:r>
            <a:r>
              <a:rPr lang="en-GB" dirty="0"/>
              <a:t> wins on two multimodal functions (Ackley, </a:t>
            </a:r>
            <a:r>
              <a:rPr lang="en-GB" dirty="0" err="1"/>
              <a:t>Griewank</a:t>
            </a:r>
            <a:r>
              <a:rPr lang="en-GB" dirty="0"/>
              <a:t>), highlighting the benefit of </a:t>
            </a:r>
            <a:r>
              <a:rPr lang="en-GB" dirty="0" err="1"/>
              <a:t>neighborhood</a:t>
            </a:r>
            <a:r>
              <a:rPr lang="en-GB" dirty="0"/>
              <a:t>-guided search there.</a:t>
            </a:r>
          </a:p>
          <a:p>
            <a:r>
              <a:rPr lang="en-GB" b="1" dirty="0" err="1"/>
              <a:t>no_gaussian</a:t>
            </a:r>
            <a:r>
              <a:rPr lang="en-GB" dirty="0"/>
              <a:t> is best on Sphere and Rosenbrock, suggesting Gaussian perturbation can hurt smooth/unimodal convergence in this setup.</a:t>
            </a:r>
          </a:p>
          <a:p>
            <a:r>
              <a:rPr lang="en-GB" b="1" dirty="0" err="1"/>
              <a:t>no_gbest</a:t>
            </a:r>
            <a:r>
              <a:rPr lang="en-GB" dirty="0"/>
              <a:t> is best on </a:t>
            </a:r>
            <a:r>
              <a:rPr lang="en-GB" dirty="0" err="1"/>
              <a:t>Rastrigin</a:t>
            </a:r>
            <a:r>
              <a:rPr lang="en-GB" dirty="0"/>
              <a:t>, indicating </a:t>
            </a:r>
            <a:r>
              <a:rPr lang="en-GB" dirty="0" err="1"/>
              <a:t>gbest</a:t>
            </a:r>
            <a:r>
              <a:rPr lang="en-GB" dirty="0"/>
              <a:t> guidance can be counterproductive on that landscape.</a:t>
            </a:r>
          </a:p>
          <a:p>
            <a:r>
              <a:rPr lang="en-GB" dirty="0"/>
              <a:t>Schwefel </a:t>
            </a:r>
            <a:r>
              <a:rPr lang="en-GB" dirty="0" err="1"/>
              <a:t>favors</a:t>
            </a:r>
            <a:r>
              <a:rPr lang="en-GB" dirty="0"/>
              <a:t> </a:t>
            </a:r>
            <a:r>
              <a:rPr lang="en-GB" b="1" dirty="0"/>
              <a:t>self_in_eq7_no_gaussian</a:t>
            </a:r>
            <a:r>
              <a:rPr lang="en-GB" dirty="0"/>
              <a:t>, a mix of </a:t>
            </a:r>
            <a:r>
              <a:rPr lang="en-GB" dirty="0" err="1"/>
              <a:t>neighborhood</a:t>
            </a:r>
            <a:r>
              <a:rPr lang="en-GB" dirty="0"/>
              <a:t> search plus disabling Gaussian.</a:t>
            </a:r>
          </a:p>
          <a:p>
            <a:endParaRPr lang="en-GB" dirty="0"/>
          </a:p>
        </p:txBody>
      </p:sp>
      <p:pic>
        <p:nvPicPr>
          <p:cNvPr id="8" name="Audio 7">
            <a:extLst>
              <a:ext uri="{FF2B5EF4-FFF2-40B4-BE49-F238E27FC236}">
                <a16:creationId xmlns:a16="http://schemas.microsoft.com/office/drawing/2014/main" id="{D330783A-EB2D-16A8-D918-D5447B4A85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42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3813">
        <p159:morph option="byObject"/>
      </p:transition>
    </mc:Choice>
    <mc:Fallback>
      <p:transition spd="slow" advTm="5381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54DA1-3BAF-0E96-FDCE-153BE3BDE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C3DB5E1C-D09F-7461-3FB6-040B529E36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alphaModFix amt="4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548F59-8C5E-7B90-9515-F6E654D3C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Discussion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6E14EAC3-EE62-3B16-C8C1-BC20D571BF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41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360">
        <p159:morph option="byObject"/>
      </p:transition>
    </mc:Choice>
    <mc:Fallback>
      <p:transition spd="slow" advTm="336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8687" y="1590675"/>
            <a:ext cx="10334625" cy="412361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ABCNG’s gains are </a:t>
            </a:r>
            <a:r>
              <a:rPr lang="en-GB" b="1" dirty="0"/>
              <a:t>function‑dependent</a:t>
            </a:r>
            <a:r>
              <a:rPr lang="en-GB" dirty="0"/>
              <a:t>; no single variant dominates all landscapes.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Neighborhood</a:t>
            </a:r>
            <a:r>
              <a:rPr lang="en-GB" b="1" dirty="0"/>
              <a:t> search (self_in_eq7)</a:t>
            </a:r>
            <a:r>
              <a:rPr lang="en-GB" dirty="0"/>
              <a:t> is strongest on multimodal Ackley/</a:t>
            </a:r>
            <a:r>
              <a:rPr lang="en-GB" dirty="0" err="1"/>
              <a:t>Griewank</a:t>
            </a:r>
            <a:r>
              <a:rPr lang="en-GB" dirty="0"/>
              <a:t>, suggesting better exploration.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Gaussian perturbation can hurt</a:t>
            </a:r>
            <a:r>
              <a:rPr lang="en-GB" dirty="0"/>
              <a:t> on smooth/unimodal problems; </a:t>
            </a:r>
            <a:r>
              <a:rPr lang="en-GB" dirty="0" err="1"/>
              <a:t>no_gaussian</a:t>
            </a:r>
            <a:r>
              <a:rPr lang="en-GB" dirty="0"/>
              <a:t> wins on Sphere and Rosenbrock.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gbest</a:t>
            </a:r>
            <a:r>
              <a:rPr lang="en-GB" b="1" dirty="0"/>
              <a:t> guidance is not always helpful</a:t>
            </a:r>
            <a:r>
              <a:rPr lang="en-GB" dirty="0"/>
              <a:t>; removing it improves </a:t>
            </a:r>
            <a:r>
              <a:rPr lang="en-GB" dirty="0" err="1"/>
              <a:t>Rastrigin</a:t>
            </a:r>
            <a:r>
              <a:rPr lang="en-GB" dirty="0"/>
              <a:t> markedly.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Sparse dimension updates are consistently weak</a:t>
            </a:r>
            <a:r>
              <a:rPr lang="en-GB" dirty="0"/>
              <a:t>, especially on high‑dimensional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Overall: ABCNG’s components help, but </a:t>
            </a:r>
            <a:r>
              <a:rPr lang="en-GB" b="1" dirty="0"/>
              <a:t>the right combination depends on the landscape</a:t>
            </a:r>
            <a:r>
              <a:rPr lang="en-GB" dirty="0"/>
              <a:t>, highlighting the value of ablation‑guided tuning.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B585A-62AA-7E92-6463-C1FC0E81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pPr algn="ctr"/>
            <a:r>
              <a:rPr lang="en-US" dirty="0"/>
              <a:t>Discussion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6BD98462-9E26-2EA6-E811-2A627CF276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0720">
        <p159:morph option="byObject"/>
      </p:transition>
    </mc:Choice>
    <mc:Fallback>
      <p:transition spd="slow" advTm="5072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A972-BD3A-3DCD-81F1-7AF161F5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FE33-53A6-E75A-9BA0-8B7B1BFD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pPr rtl="1"/>
            <a:r>
              <a:rPr lang="en-US" dirty="0"/>
              <a:t>References</a:t>
            </a:r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CB65501E-A327-D358-9D08-A3694677266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150236104"/>
              </p:ext>
            </p:extLst>
          </p:nvPr>
        </p:nvGraphicFramePr>
        <p:xfrm>
          <a:off x="763587" y="2755900"/>
          <a:ext cx="10664825" cy="15677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4937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9315449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NUMBER</a:t>
                      </a:r>
                      <a:endParaRPr lang="en-US" b="0" i="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REFERENCE</a:t>
                      </a:r>
                      <a:endParaRPr lang="en-US" b="0" i="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53366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  <a:cs typeface="Calibri" panose="020F0502020204030204" pitchFamily="34" charset="0"/>
                        </a:rPr>
                        <a:t>1</a:t>
                      </a:r>
                      <a:endParaRPr lang="en-US" b="0" i="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Xiao, S., Wang, H., Wang, W., Huang, Z., Zhou, X. and Xu, M., 2021. Artificial bee colony algorithm based on adaptive neighborhood search and Gaussian perturbation. Applied Soft Computing, 100, p.106955.</a:t>
                      </a:r>
                      <a:endParaRPr lang="en-US" b="0" i="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FE8E1-C174-3C82-DA25-35B2B159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6912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4302">
        <p159:morph option="byObject"/>
      </p:transition>
    </mc:Choice>
    <mc:Fallback>
      <p:transition spd="slow" advTm="4302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4" name="Picture 2" descr="Amirkabir University of Technology - Crunchbase School Profile &amp; Alumni">
            <a:extLst>
              <a:ext uri="{FF2B5EF4-FFF2-40B4-BE49-F238E27FC236}">
                <a16:creationId xmlns:a16="http://schemas.microsoft.com/office/drawing/2014/main" id="{7472C0BB-56E7-AC74-BCA3-377881269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547" y="3230863"/>
            <a:ext cx="1552321" cy="1385257"/>
          </a:xfrm>
          <a:prstGeom prst="rect">
            <a:avLst/>
          </a:prstGeom>
          <a:noFill/>
        </p:spPr>
      </p:pic>
      <p:pic>
        <p:nvPicPr>
          <p:cNvPr id="6" name="Picture 4" descr="Amirkabir University of Technology - Department of Computer Engineering">
            <a:extLst>
              <a:ext uri="{FF2B5EF4-FFF2-40B4-BE49-F238E27FC236}">
                <a16:creationId xmlns:a16="http://schemas.microsoft.com/office/drawing/2014/main" id="{CEC77F98-41E6-880C-D74A-EE769B5C6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154" y="3347931"/>
            <a:ext cx="1062300" cy="115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10405</TotalTime>
  <Words>1083</Words>
  <Application>Microsoft Macintosh PowerPoint</Application>
  <PresentationFormat>Widescreen</PresentationFormat>
  <Paragraphs>162</Paragraphs>
  <Slides>17</Slides>
  <Notes>16</Notes>
  <HiddenSlides>0</HiddenSlides>
  <MMClips>14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Narrow</vt:lpstr>
      <vt:lpstr>Arial</vt:lpstr>
      <vt:lpstr>Calibri</vt:lpstr>
      <vt:lpstr>Calibri Light</vt:lpstr>
      <vt:lpstr>Cambria Math</vt:lpstr>
      <vt:lpstr>Wingdings</vt:lpstr>
      <vt:lpstr>Custom</vt:lpstr>
      <vt:lpstr>Artificial Bee Colony with Adaptive Neighborhood and Gaussian Perturbation (ABCNG) Phase 2</vt:lpstr>
      <vt:lpstr>AGENDA</vt:lpstr>
      <vt:lpstr>Abcng pseudocode</vt:lpstr>
      <vt:lpstr>Proposed variations</vt:lpstr>
      <vt:lpstr>Case studies &amp; Results</vt:lpstr>
      <vt:lpstr>Experimental setup</vt:lpstr>
      <vt:lpstr>Results (Ackley)</vt:lpstr>
      <vt:lpstr>Results (griewank)</vt:lpstr>
      <vt:lpstr>Results (rastrigin)</vt:lpstr>
      <vt:lpstr>Results (rosenbrock)</vt:lpstr>
      <vt:lpstr>Results (schwefel)</vt:lpstr>
      <vt:lpstr>Results (sphere)</vt:lpstr>
      <vt:lpstr>Results overview</vt:lpstr>
      <vt:lpstr>Discussion</vt:lpstr>
      <vt:lpstr>Discussion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Reza</dc:creator>
  <cp:lastModifiedBy>Amir</cp:lastModifiedBy>
  <cp:revision>66</cp:revision>
  <dcterms:created xsi:type="dcterms:W3CDTF">2025-04-27T14:09:20Z</dcterms:created>
  <dcterms:modified xsi:type="dcterms:W3CDTF">2026-01-02T17:17:39Z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